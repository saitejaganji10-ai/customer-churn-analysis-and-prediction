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9" d="100"/>
          <a:sy n="69" d="100"/>
        </p:scale>
        <p:origin x="1204" y="3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FFFFFF"/>
                </a:solidFill>
                <a:latin typeface="Arial"/>
              </a:rPr>
              <a:t>Churn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FC8-470A-B596-D1AE5DDB6137}"/>
              </c:ext>
            </c:extLst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FC8-470A-B596-D1AE5DDB613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FC8-470A-B596-D1AE5DDB613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FC8-470A-B596-D1AE5DDB613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Churned (26%)</c:v>
                </c:pt>
                <c:pt idx="1">
                  <c:v>Retained (74%)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</c:v>
                </c:pt>
                <c:pt idx="1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FC8-470A-B596-D1AE5DDB61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B8C5D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224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Contract Type vs Churn Rate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E0C-4D95-9528-673AD89C9126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E0C-4D95-9528-673AD89C9126}"/>
              </c:ext>
            </c:extLst>
          </c:dPt>
          <c:dPt>
            <c:idx val="2"/>
            <c:invertIfNegative val="0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E0C-4D95-9528-673AD89C912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</c:v>
                </c:pt>
                <c:pt idx="1">
                  <c:v>11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E0C-4D95-9528-673AD89C91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5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C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5D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5176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yourself, your role, and the project context at SaiKet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565C0">
              <a:alpha val="25000"/>
            </a:srgbClr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0096C7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1920240"/>
            <a:ext cx="9144000" cy="36576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60520"/>
            <a:ext cx="411480" cy="4114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4160520"/>
            <a:ext cx="411480" cy="41148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4160520"/>
            <a:ext cx="411480" cy="41148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4160520"/>
            <a:ext cx="411480" cy="41148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4160520"/>
            <a:ext cx="411480" cy="41148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4400" dirty="0"/>
          </a:p>
        </p:txBody>
      </p:sp>
      <p:sp>
        <p:nvSpPr>
          <p:cNvPr id="12" name="Text 5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kern="0" spc="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PREDICTION</a:t>
            </a:r>
            <a:endParaRPr lang="en-US" sz="3000" dirty="0"/>
          </a:p>
        </p:txBody>
      </p:sp>
      <p:sp>
        <p:nvSpPr>
          <p:cNvPr id="13" name="Shape 6"/>
          <p:cNvSpPr/>
          <p:nvPr/>
        </p:nvSpPr>
        <p:spPr>
          <a:xfrm>
            <a:off x="457200" y="233172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7"/>
          <p:cNvSpPr/>
          <p:nvPr/>
        </p:nvSpPr>
        <p:spPr>
          <a:xfrm>
            <a:off x="548640" y="23957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800" dirty="0"/>
          </a:p>
        </p:txBody>
      </p:sp>
      <p:sp>
        <p:nvSpPr>
          <p:cNvPr id="15" name="Text 8"/>
          <p:cNvSpPr/>
          <p:nvPr/>
        </p:nvSpPr>
        <p:spPr>
          <a:xfrm>
            <a:off x="548640" y="2633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SaiKet Systems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3355848" y="233172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0"/>
          <p:cNvSpPr/>
          <p:nvPr/>
        </p:nvSpPr>
        <p:spPr>
          <a:xfrm>
            <a:off x="3447288" y="23957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3447288" y="2633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Internship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254496" y="233172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3"/>
          <p:cNvSpPr/>
          <p:nvPr/>
        </p:nvSpPr>
        <p:spPr>
          <a:xfrm>
            <a:off x="6345936" y="23957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6345936" y="2633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GANJI SAI TEJA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57200" y="3977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457200" y="4590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2148840" y="4590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3840480" y="4590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5532120" y="4590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7223760" y="4590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75488" y="27432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112244"/>
          </a:solidFill>
          <a:ln w="12700">
            <a:solidFill>
              <a:srgbClr val="1565C0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536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9659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is a major challenge for telecommunication companies. This project aims to analyze customer behavior and develop predictive models to identify customers likely to leave.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50876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536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92040" y="201168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churn patterns
</a:t>
            </a: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factors affecting churn
</a:t>
            </a: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ML model
</a:t>
            </a: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retention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096C7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FF6B3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75488" y="27432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DATASET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4475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874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65760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3258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12244"/>
          </a:solidFill>
          <a:ln w="12700">
            <a:solidFill>
              <a:srgbClr val="FF6B35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44475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1874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3291840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3258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12244"/>
          </a:solidFill>
          <a:ln w="12700">
            <a:solidFill>
              <a:srgbClr val="00C896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44475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1874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6217920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65760" y="3291840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132040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365760" y="32918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2514600" y="3291840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132040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2514600" y="32918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SeniorCitizen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663440" y="3291840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132040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4663440" y="32918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812280" y="3291840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132040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6812280" y="32918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365760" y="384048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132040"/>
          </a:solidFill>
          <a:ln w="12700">
            <a:solidFill>
              <a:srgbClr val="0096C7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365760" y="38404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3108960" y="384048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132040"/>
          </a:solidFill>
          <a:ln w="12700">
            <a:solidFill>
              <a:srgbClr val="0096C7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/>
          <p:nvPr/>
        </p:nvSpPr>
        <p:spPr>
          <a:xfrm>
            <a:off x="3108960" y="38404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5852160" y="384048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132040"/>
          </a:solidFill>
          <a:ln w="12700">
            <a:solidFill>
              <a:srgbClr val="0096C7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/>
          <p:nvPr/>
        </p:nvSpPr>
        <p:spPr>
          <a:xfrm>
            <a:off x="5852160" y="38404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Telco Customer Churn Dataset  •  IBM Watson Analytics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286000"/>
            <a:ext cx="3200400" cy="3200400"/>
          </a:xfrm>
          <a:prstGeom prst="ellipse">
            <a:avLst/>
          </a:prstGeom>
          <a:solidFill>
            <a:srgbClr val="00C896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645920" cy="292608"/>
          </a:xfrm>
          <a:prstGeom prst="roundRect">
            <a:avLst>
              <a:gd name="adj" fmla="val 31250"/>
            </a:avLst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75488" y="2743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TASK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8620" y="123444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411480" cy="41148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53619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5544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20116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handled all null/blank entries in TotalCharges and other fields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08698" y="121158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112244"/>
          </a:solidFill>
          <a:ln w="12700">
            <a:solidFill>
              <a:srgbClr val="FF6B35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554480"/>
            <a:ext cx="411480" cy="41148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536192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40680" y="15544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4937760" y="20116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and removed redundant records to ensure data quality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11480" y="301752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112244"/>
          </a:solidFill>
          <a:ln w="12700">
            <a:solidFill>
              <a:srgbClr val="0096C7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383280"/>
            <a:ext cx="411480" cy="411480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3364992"/>
            <a:ext cx="347472" cy="34747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51560" y="3383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548640" y="3840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TotalCharges to numeric, adjusted categorical dtypes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4708698" y="301752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112244"/>
          </a:solidFill>
          <a:ln w="12700">
            <a:solidFill>
              <a:srgbClr val="FFB627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383280"/>
            <a:ext cx="411480" cy="411480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364992"/>
            <a:ext cx="347472" cy="34747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440680" y="3383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400" dirty="0"/>
          </a:p>
        </p:txBody>
      </p:sp>
      <p:sp>
        <p:nvSpPr>
          <p:cNvPr id="25" name="Text 15"/>
          <p:cNvSpPr/>
          <p:nvPr/>
        </p:nvSpPr>
        <p:spPr>
          <a:xfrm>
            <a:off x="4937760" y="3840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binary categorical variables for ML compatibility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411018" y="4732020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7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OUTCOME: Dataset fully prepared for analysis and machine learning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92608"/>
          </a:xfrm>
          <a:prstGeom prst="roundRect">
            <a:avLst>
              <a:gd name="adj" fmla="val 31250"/>
            </a:avLst>
          </a:prstGeom>
          <a:solidFill>
            <a:srgbClr val="0096C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75488" y="2743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TASK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98448"/>
          <a:ext cx="34747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023360" y="1298448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18795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112244"/>
          </a:solidFill>
          <a:ln w="12700">
            <a:solidFill>
              <a:srgbClr val="FF6B35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29768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960120" y="44805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 customers exhibit the highest churn rate at 43% — nearly 4× higher than yearly contracts.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B627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645920" cy="292608"/>
          </a:xfrm>
          <a:prstGeom prst="roundRect">
            <a:avLst>
              <a:gd name="adj" fmla="val 31250"/>
            </a:avLst>
          </a:prstGeom>
          <a:solidFill>
            <a:srgbClr val="FFB62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75488" y="2743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TASK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Groups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(0-12 mo)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2194560" cy="201168"/>
          </a:xfrm>
          <a:prstGeom prst="roundRect">
            <a:avLst>
              <a:gd name="adj" fmla="val 22727"/>
            </a:avLst>
          </a:prstGeom>
          <a:solidFill>
            <a:srgbClr val="1C2E4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1316736" cy="201168"/>
          </a:xfrm>
          <a:prstGeom prst="roundRect">
            <a:avLst>
              <a:gd name="adj" fmla="val 22727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377440" y="2148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(13-36 mo)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2194560" cy="201168"/>
          </a:xfrm>
          <a:prstGeom prst="roundRect">
            <a:avLst>
              <a:gd name="adj" fmla="val 22727"/>
            </a:avLst>
          </a:prstGeom>
          <a:solidFill>
            <a:srgbClr val="1C2E4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377440" y="3017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611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(37+ mo)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886200"/>
            <a:ext cx="2194560" cy="201168"/>
          </a:xfrm>
          <a:prstGeom prst="roundRect">
            <a:avLst>
              <a:gd name="adj" fmla="val 22727"/>
            </a:avLst>
          </a:prstGeom>
          <a:solidFill>
            <a:srgbClr val="1C2E4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02920" y="3886200"/>
            <a:ext cx="219456" cy="201168"/>
          </a:xfrm>
          <a:prstGeom prst="roundRect">
            <a:avLst>
              <a:gd name="adj" fmla="val 22727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377440" y="3886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132588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112244"/>
          </a:solidFill>
          <a:ln w="12700">
            <a:solidFill>
              <a:srgbClr val="FF6B35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9184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(&lt;$30)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2148840"/>
            <a:ext cx="2194560" cy="201168"/>
          </a:xfrm>
          <a:prstGeom prst="roundRect">
            <a:avLst>
              <a:gd name="adj" fmla="val 22727"/>
            </a:avLst>
          </a:prstGeom>
          <a:solidFill>
            <a:srgbClr val="1C2E4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429000" y="2148840"/>
            <a:ext cx="329184" cy="201168"/>
          </a:xfrm>
          <a:prstGeom prst="roundRect">
            <a:avLst>
              <a:gd name="adj" fmla="val 22727"/>
            </a:avLst>
          </a:prstGeom>
          <a:solidFill>
            <a:srgbClr val="FF6B3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303520" y="2148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27432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($30-70)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29000" y="3017520"/>
            <a:ext cx="2194560" cy="201168"/>
          </a:xfrm>
          <a:prstGeom prst="roundRect">
            <a:avLst>
              <a:gd name="adj" fmla="val 22727"/>
            </a:avLst>
          </a:prstGeom>
          <a:solidFill>
            <a:srgbClr val="1C2E4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429000" y="3017520"/>
            <a:ext cx="768096" cy="201168"/>
          </a:xfrm>
          <a:prstGeom prst="roundRect">
            <a:avLst>
              <a:gd name="adj" fmla="val 22727"/>
            </a:avLst>
          </a:prstGeom>
          <a:solidFill>
            <a:srgbClr val="FF6B3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303520" y="3017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29000" y="3611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(&gt;$70)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29000" y="3886200"/>
            <a:ext cx="2194560" cy="201168"/>
          </a:xfrm>
          <a:prstGeom prst="roundRect">
            <a:avLst>
              <a:gd name="adj" fmla="val 22727"/>
            </a:avLst>
          </a:prstGeom>
          <a:solidFill>
            <a:srgbClr val="1C2E4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429000" y="3886200"/>
            <a:ext cx="1207008" cy="201168"/>
          </a:xfrm>
          <a:prstGeom prst="roundRect">
            <a:avLst>
              <a:gd name="adj" fmla="val 22727"/>
            </a:avLst>
          </a:prstGeom>
          <a:solidFill>
            <a:srgbClr val="FF6B3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303520" y="3886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132588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112244"/>
          </a:solidFill>
          <a:ln w="12700">
            <a:solidFill>
              <a:srgbClr val="0096C7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21792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55080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Month-Month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55080" y="2148840"/>
            <a:ext cx="2194560" cy="201168"/>
          </a:xfrm>
          <a:prstGeom prst="roundRect">
            <a:avLst>
              <a:gd name="adj" fmla="val 22727"/>
            </a:avLst>
          </a:prstGeom>
          <a:solidFill>
            <a:srgbClr val="1C2E4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355080" y="2148840"/>
            <a:ext cx="943661" cy="201168"/>
          </a:xfrm>
          <a:prstGeom prst="roundRect">
            <a:avLst>
              <a:gd name="adj" fmla="val 22727"/>
            </a:avLst>
          </a:prstGeom>
          <a:solidFill>
            <a:srgbClr val="0096C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229600" y="2148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55080" y="27432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Year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55080" y="3017520"/>
            <a:ext cx="2194560" cy="201168"/>
          </a:xfrm>
          <a:prstGeom prst="roundRect">
            <a:avLst>
              <a:gd name="adj" fmla="val 22727"/>
            </a:avLst>
          </a:prstGeom>
          <a:solidFill>
            <a:srgbClr val="1C2E4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355080" y="3017520"/>
            <a:ext cx="241402" cy="201168"/>
          </a:xfrm>
          <a:prstGeom prst="roundRect">
            <a:avLst>
              <a:gd name="adj" fmla="val 22727"/>
            </a:avLst>
          </a:prstGeom>
          <a:solidFill>
            <a:srgbClr val="0096C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229600" y="3017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55080" y="3611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55080" y="3886200"/>
            <a:ext cx="2194560" cy="201168"/>
          </a:xfrm>
          <a:prstGeom prst="roundRect">
            <a:avLst>
              <a:gd name="adj" fmla="val 22727"/>
            </a:avLst>
          </a:prstGeom>
          <a:solidFill>
            <a:srgbClr val="1C2E4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355080" y="3886200"/>
            <a:ext cx="65837" cy="201168"/>
          </a:xfrm>
          <a:prstGeom prst="roundRect">
            <a:avLst>
              <a:gd name="adj" fmla="val 69444"/>
            </a:avLst>
          </a:prstGeom>
          <a:solidFill>
            <a:srgbClr val="0096C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229600" y="3886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681728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132040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&amp; high charge segments need immediate targeted retention interventions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645920" cy="292608"/>
          </a:xfrm>
          <a:prstGeom prst="roundRect">
            <a:avLst>
              <a:gd name="adj" fmla="val 31250"/>
            </a:avLst>
          </a:prstGeom>
          <a:solidFill>
            <a:srgbClr val="1565C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75488" y="2743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TASK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1565C0">
              <a:alpha val="3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2984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Logistic Regression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" y="201168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65760" y="20848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65760" y="25420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28803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for training and validation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331720" y="2834640"/>
            <a:ext cx="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487168" y="201168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112244"/>
          </a:solidFill>
          <a:ln w="12700">
            <a:solidFill>
              <a:srgbClr val="FF6B35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487168" y="20848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487168" y="25420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487168" y="28803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Logistic Regression on training data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453128" y="2834640"/>
            <a:ext cx="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608576" y="201168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112244"/>
          </a:solidFill>
          <a:ln w="12700">
            <a:solidFill>
              <a:srgbClr val="0096C7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608576" y="20848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4608576" y="25420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608576" y="28803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predictions on test set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574536" y="2834640"/>
            <a:ext cx="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6729984" y="201168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112244"/>
          </a:solidFill>
          <a:ln w="12700">
            <a:solidFill>
              <a:srgbClr val="00C896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729984" y="20848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6729984" y="25420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729984" y="28803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metrics and generate reports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65760" y="411480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132040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365760" y="4114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2487168" y="411480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132040"/>
          </a:solidFill>
          <a:ln w="12700">
            <a:solidFill>
              <a:srgbClr val="FF6B35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487168" y="4114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608576" y="411480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132040"/>
          </a:solidFill>
          <a:ln w="12700">
            <a:solidFill>
              <a:srgbClr val="0096C7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08576" y="4114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729984" y="411480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132040"/>
          </a:solidFill>
          <a:ln w="12700">
            <a:solidFill>
              <a:srgbClr val="00C896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729984" y="4114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292608"/>
          </a:xfrm>
          <a:prstGeom prst="roundRect">
            <a:avLst>
              <a:gd name="adj" fmla="val 3125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75488" y="2743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560320" cy="3520440"/>
          </a:xfrm>
          <a:prstGeom prst="roundRect">
            <a:avLst>
              <a:gd name="adj" fmla="val 4286"/>
            </a:avLst>
          </a:prstGeom>
          <a:solidFill>
            <a:srgbClr val="112244"/>
          </a:solidFill>
          <a:ln w="25400">
            <a:solidFill>
              <a:srgbClr val="00B4D8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80–85%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classifies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80-85% of customers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337560"/>
            <a:ext cx="2103120" cy="201168"/>
          </a:xfrm>
          <a:prstGeom prst="roundRect">
            <a:avLst>
              <a:gd name="adj" fmla="val 22727"/>
            </a:avLst>
          </a:prstGeom>
          <a:solidFill>
            <a:srgbClr val="1C2E4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94360" y="3337560"/>
            <a:ext cx="1783080" cy="201168"/>
          </a:xfrm>
          <a:prstGeom prst="roundRect">
            <a:avLst>
              <a:gd name="adj" fmla="val 22727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~82.5%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298448"/>
            <a:ext cx="5669280" cy="3520440"/>
          </a:xfrm>
          <a:prstGeom prst="roundRect">
            <a:avLst>
              <a:gd name="adj" fmla="val 3117"/>
            </a:avLst>
          </a:prstGeom>
          <a:solidFill>
            <a:srgbClr val="112244"/>
          </a:solidFill>
          <a:ln w="12700">
            <a:solidFill>
              <a:srgbClr val="FF6B35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108960" y="141732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1783080"/>
          <a:ext cx="5394960" cy="1828800"/>
        </p:xfrm>
        <a:graphic>
          <a:graphicData uri="http://schemas.openxmlformats.org/drawingml/2006/table">
            <a:tbl>
              <a:tblPr/>
              <a:tblGrid>
                <a:gridCol w="107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8C5D6"/>
                          </a:solidFill>
                        </a:rPr>
                        <a:t>Not Churned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</a:rPr>
                        <a:t>0.87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</a:rPr>
                        <a:t>0.91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</a:rPr>
                        <a:t>0.89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</a:rPr>
                        <a:t>1055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8C5D6"/>
                          </a:solidFill>
                        </a:rPr>
                        <a:t>Churned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</a:rPr>
                        <a:t>0.67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</a:rPr>
                        <a:t>0.58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</a:rPr>
                        <a:t>0.62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</a:rPr>
                        <a:t>354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8C5D6"/>
                          </a:solidFill>
                        </a:rPr>
                        <a:t>Weighted Avg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</a:rPr>
                        <a:t>0.82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</a:rPr>
                        <a:t>0.82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</a:rPr>
                        <a:t>0.82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</a:rPr>
                        <a:t>1409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4892040"/>
            <a:ext cx="8412480" cy="274320"/>
          </a:xfrm>
          <a:prstGeom prst="roundRect">
            <a:avLst>
              <a:gd name="adj" fmla="val 26667"/>
            </a:avLst>
          </a:prstGeom>
          <a:solidFill>
            <a:srgbClr val="132040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includes TP, TN, FP, FN  •  Model tuned for high recall on churned class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645920" cy="292608"/>
          </a:xfrm>
          <a:prstGeom prst="roundRect">
            <a:avLst>
              <a:gd name="adj" fmla="val 31250"/>
            </a:avLst>
          </a:prstGeom>
          <a:solidFill>
            <a:srgbClr val="FF6B3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75488" y="2743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TASK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Strategies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112244"/>
          </a:solidFill>
          <a:ln w="12700">
            <a:solidFill>
              <a:srgbClr val="FFB627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8988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3350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(LTV):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627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prioritized high-value customers for focused retention efforts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2176272"/>
            <a:ext cx="4114800" cy="1298448"/>
          </a:xfrm>
          <a:prstGeom prst="roundRect">
            <a:avLst>
              <a:gd name="adj" fmla="val 8451"/>
            </a:avLst>
          </a:prstGeom>
          <a:solidFill>
            <a:srgbClr val="112244"/>
          </a:solidFill>
          <a:ln w="12700">
            <a:solidFill>
              <a:srgbClr val="FFB627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37744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23408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30352" y="283464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long-tenure customers with exclusive benefits, discounts, and tier-based perks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0" y="2176272"/>
            <a:ext cx="4114800" cy="1298448"/>
          </a:xfrm>
          <a:prstGeom prst="roundRect">
            <a:avLst>
              <a:gd name="adj" fmla="val 8451"/>
            </a:avLst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37744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13248" y="23408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Offers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919472" y="283464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ML predictions to tailor offers and bundles to at-risk customers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65760" y="3639312"/>
            <a:ext cx="4114800" cy="1298448"/>
          </a:xfrm>
          <a:prstGeom prst="roundRect">
            <a:avLst>
              <a:gd name="adj" fmla="val 8451"/>
            </a:avLst>
          </a:prstGeom>
          <a:solidFill>
            <a:srgbClr val="112244"/>
          </a:solidFill>
          <a:ln w="12700">
            <a:solidFill>
              <a:srgbClr val="0096C7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84048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24128" y="38039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Support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30352" y="429768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outreach and premium customer service for high-value accounts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754880" y="3639312"/>
            <a:ext cx="4114800" cy="1298448"/>
          </a:xfrm>
          <a:prstGeom prst="roundRect">
            <a:avLst>
              <a:gd name="adj" fmla="val 8451"/>
            </a:avLst>
          </a:prstGeom>
          <a:solidFill>
            <a:srgbClr val="112244"/>
          </a:solidFill>
          <a:ln w="12700">
            <a:solidFill>
              <a:srgbClr val="FF6B35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84048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039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Contracts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919472" y="429768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annual and biennial contracts with significant savings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92608"/>
          </a:xfrm>
          <a:prstGeom prst="roundRect">
            <a:avLst>
              <a:gd name="adj" fmla="val 31250"/>
            </a:avLst>
          </a:prstGeom>
          <a:solidFill>
            <a:srgbClr val="0096C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75488" y="2743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TASK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Visualizations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8132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029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2395728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outliers by feature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057400" y="132588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12244"/>
          </a:solidFill>
          <a:ln w="12700">
            <a:solidFill>
              <a:srgbClr val="FF6B35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148132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57400" y="2029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 Plots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057400" y="2395728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density + IQR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749040" y="132588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12244"/>
          </a:solidFill>
          <a:ln w="12700">
            <a:solidFill>
              <a:srgbClr val="0096C7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208" y="148132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49040" y="2029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Plots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749040" y="2395728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matrix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440680" y="132588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12244"/>
          </a:solidFill>
          <a:ln w="12700">
            <a:solidFill>
              <a:srgbClr val="FFB627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481328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40680" y="2029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40680" y="2395728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vs tenure clusters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7132320" y="132588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12244"/>
          </a:solidFill>
          <a:ln w="12700">
            <a:solidFill>
              <a:srgbClr val="00C896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3488" y="1481328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32320" y="2029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Plots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132320" y="2395728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density distributions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365760" y="3703320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112244"/>
          </a:solidFill>
          <a:ln w="12700">
            <a:solidFill>
              <a:srgbClr val="0096C7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3858768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584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005840" y="404164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visualizations revealed deeper behavioral patterns: high-charge new customers with month-to-month contracts form the highest-risk churn cluster, while two-year contract holders show strong retention indicators regardless of charge level.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560320"/>
            <a:ext cx="3657600" cy="3657600"/>
          </a:xfrm>
          <a:prstGeom prst="ellipse">
            <a:avLst/>
          </a:prstGeom>
          <a:solidFill>
            <a:srgbClr val="00C896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645920" cy="292608"/>
          </a:xfrm>
          <a:prstGeom prst="roundRect">
            <a:avLst>
              <a:gd name="adj" fmla="val 31250"/>
            </a:avLst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75488" y="2743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INSIGHTS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716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417320" y="1399032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Short-tenure customers (0-12 months) show significantly higher churn likelihood — early engagement is critical.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5760" y="2249424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112244"/>
          </a:solidFill>
          <a:ln w="12700">
            <a:solidFill>
              <a:srgbClr val="FF6B35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35915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2677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417320" y="2295144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monthly charges (&gt;$70) are strongly correlated with churn probability — value perception must improve.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65760" y="3145536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112244"/>
          </a:solidFill>
          <a:ln w="12700">
            <a:solidFill>
              <a:srgbClr val="0096C7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5526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316382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417320" y="3191256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 have a 43% churn rate vs. only 3% for two-year plans — contract incentives work.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365760" y="4041648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112244"/>
          </a:solidFill>
          <a:ln w="12700">
            <a:solidFill>
              <a:srgbClr val="00C896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51376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40599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1417320" y="4087368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contract customers demonstrate strong loyalty — retention strategies should prioritize contract upgrades.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675120" y="-18288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1828800" cy="292608"/>
          </a:xfrm>
          <a:prstGeom prst="roundRect">
            <a:avLst>
              <a:gd name="adj" fmla="val 31250"/>
            </a:avLst>
          </a:prstGeom>
          <a:solidFill>
            <a:srgbClr val="1565C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75488" y="2743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CONCLUSION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5029200" cy="2148840"/>
          </a:xfrm>
          <a:prstGeom prst="roundRect">
            <a:avLst>
              <a:gd name="adj" fmla="val 5106"/>
            </a:avLst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4709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analyzed customer churn patterns across 7,043 customers and developed a Logistic Regression model achieving 80-85% accuracy. Key drivers identified and actionable retention strategies formulated for SaiKet Systems.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3547872"/>
            <a:ext cx="5029200" cy="1481328"/>
          </a:xfrm>
          <a:prstGeom prst="roundRect">
            <a:avLst>
              <a:gd name="adj" fmla="val 7407"/>
            </a:avLst>
          </a:prstGeom>
          <a:solidFill>
            <a:srgbClr val="112244"/>
          </a:solidFill>
          <a:ln w="12700">
            <a:solidFill>
              <a:srgbClr val="FF6B35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36393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" y="4005072"/>
            <a:ext cx="2240280" cy="320040"/>
          </a:xfrm>
          <a:prstGeom prst="roundRect">
            <a:avLst>
              <a:gd name="adj" fmla="val 17143"/>
            </a:avLst>
          </a:prstGeom>
          <a:solidFill>
            <a:srgbClr val="132040"/>
          </a:solidFill>
          <a:ln w="63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4005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Random Forest Classifier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53512" y="4005072"/>
            <a:ext cx="2240280" cy="320040"/>
          </a:xfrm>
          <a:prstGeom prst="roundRect">
            <a:avLst>
              <a:gd name="adj" fmla="val 17143"/>
            </a:avLst>
          </a:prstGeom>
          <a:solidFill>
            <a:srgbClr val="132040"/>
          </a:solidFill>
          <a:ln w="63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017520" y="4005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XGBoost Algorithm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" y="4443984"/>
            <a:ext cx="2240280" cy="320040"/>
          </a:xfrm>
          <a:prstGeom prst="roundRect">
            <a:avLst>
              <a:gd name="adj" fmla="val 17143"/>
            </a:avLst>
          </a:prstGeom>
          <a:solidFill>
            <a:srgbClr val="132040"/>
          </a:solidFill>
          <a:ln w="63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44439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Deep Learning Models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53512" y="4443984"/>
            <a:ext cx="2240280" cy="320040"/>
          </a:xfrm>
          <a:prstGeom prst="roundRect">
            <a:avLst>
              <a:gd name="adj" fmla="val 17143"/>
            </a:avLst>
          </a:prstGeom>
          <a:solidFill>
            <a:srgbClr val="132040"/>
          </a:solidFill>
          <a:ln w="63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0" y="44439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Power BI Dashboard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1298448"/>
            <a:ext cx="3200400" cy="3730752"/>
          </a:xfrm>
          <a:prstGeom prst="roundRect">
            <a:avLst>
              <a:gd name="adj" fmla="val 4286"/>
            </a:avLst>
          </a:prstGeom>
          <a:solidFill>
            <a:srgbClr val="112244"/>
          </a:solidFill>
          <a:ln w="12700">
            <a:solidFill>
              <a:srgbClr val="000000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577840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5943600" y="2267712"/>
            <a:ext cx="24688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57784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4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834640"/>
            <a:ext cx="1463040" cy="14630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577840" y="4389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SaiKet Systems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577840" y="46817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Internship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718</Words>
  <Application>Microsoft Office PowerPoint</Application>
  <PresentationFormat>On-screen Show (16:9)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and Prediction</dc:title>
  <dc:subject>PptxGenJS Presentation</dc:subject>
  <dc:creator>SaiKet Systems</dc:creator>
  <cp:lastModifiedBy>GANJI SAITEJA</cp:lastModifiedBy>
  <cp:revision>2</cp:revision>
  <dcterms:created xsi:type="dcterms:W3CDTF">2026-06-15T09:46:42Z</dcterms:created>
  <dcterms:modified xsi:type="dcterms:W3CDTF">2026-06-15T09:50:14Z</dcterms:modified>
</cp:coreProperties>
</file>